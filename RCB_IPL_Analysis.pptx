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notesSlides/notesSlide12.xml" ContentType="application/vnd.openxmlformats-officedocument.presentationml.notesSlide+xml"/>
  <Override PartName="/ppt/charts/chart1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Won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C2-4360-908C-D36719161C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C2-4360-908C-D36719161C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Strike Rate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AB de Villiers</c:v>
                </c:pt>
                <c:pt idx="1">
                  <c:v>KA Pollard</c:v>
                </c:pt>
                <c:pt idx="2">
                  <c:v>DA Miller</c:v>
                </c:pt>
                <c:pt idx="3">
                  <c:v>DA Warner</c:v>
                </c:pt>
                <c:pt idx="4">
                  <c:v>YK Pathan</c:v>
                </c:pt>
                <c:pt idx="5">
                  <c:v>CH Gayle</c:v>
                </c:pt>
                <c:pt idx="6">
                  <c:v>MS Dhoni</c:v>
                </c:pt>
                <c:pt idx="7">
                  <c:v>V Kohli</c:v>
                </c:pt>
                <c:pt idx="8">
                  <c:v>RG Sharma</c:v>
                </c:pt>
                <c:pt idx="9">
                  <c:v>SK Raina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164.27</c:v>
                </c:pt>
                <c:pt idx="1">
                  <c:v>142.86000000000001</c:v>
                </c:pt>
                <c:pt idx="2">
                  <c:v>141.44999999999999</c:v>
                </c:pt>
                <c:pt idx="3">
                  <c:v>140.94</c:v>
                </c:pt>
                <c:pt idx="4">
                  <c:v>138.1</c:v>
                </c:pt>
                <c:pt idx="5">
                  <c:v>137.43</c:v>
                </c:pt>
                <c:pt idx="6">
                  <c:v>135.19999999999999</c:v>
                </c:pt>
                <c:pt idx="7">
                  <c:v>132.55000000000001</c:v>
                </c:pt>
                <c:pt idx="8">
                  <c:v>128.80000000000001</c:v>
                </c:pt>
                <c:pt idx="9">
                  <c:v>125.3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5-4132-826B-51F84953316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Wickets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Right-arm Fast</c:v>
                </c:pt>
                <c:pt idx="1">
                  <c:v>Right-arm Medium</c:v>
                </c:pt>
                <c:pt idx="2">
                  <c:v>Right-arm Off-spin</c:v>
                </c:pt>
                <c:pt idx="3">
                  <c:v>Leg-spin / Googly</c:v>
                </c:pt>
                <c:pt idx="4">
                  <c:v>Left-arm Medium</c:v>
                </c:pt>
                <c:pt idx="5">
                  <c:v>Left-arm Spin</c:v>
                </c:pt>
                <c:pt idx="6">
                  <c:v>Left-arm Fast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1250</c:v>
                </c:pt>
                <c:pt idx="1">
                  <c:v>980</c:v>
                </c:pt>
                <c:pt idx="2">
                  <c:v>750</c:v>
                </c:pt>
                <c:pt idx="3">
                  <c:v>390</c:v>
                </c:pt>
                <c:pt idx="4">
                  <c:v>620</c:v>
                </c:pt>
                <c:pt idx="5">
                  <c:v>480</c:v>
                </c:pt>
                <c:pt idx="6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C8-4868-A8C7-D1ED039D8CE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Strike Rate (Balls/Wkt)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Right-arm Fast</c:v>
                </c:pt>
                <c:pt idx="1">
                  <c:v>Right-arm Medium</c:v>
                </c:pt>
                <c:pt idx="2">
                  <c:v>Right-arm Off-spin</c:v>
                </c:pt>
                <c:pt idx="3">
                  <c:v>Leg-spin / Googly</c:v>
                </c:pt>
                <c:pt idx="4">
                  <c:v>Left-arm Medium</c:v>
                </c:pt>
                <c:pt idx="5">
                  <c:v>Left-arm Spin</c:v>
                </c:pt>
                <c:pt idx="6">
                  <c:v>Left-arm Fast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22.4</c:v>
                </c:pt>
                <c:pt idx="1">
                  <c:v>24.1</c:v>
                </c:pt>
                <c:pt idx="2">
                  <c:v>26.3</c:v>
                </c:pt>
                <c:pt idx="3">
                  <c:v>28.9</c:v>
                </c:pt>
                <c:pt idx="4">
                  <c:v>25.8</c:v>
                </c:pt>
                <c:pt idx="5">
                  <c:v>29.7</c:v>
                </c:pt>
                <c:pt idx="6">
                  <c:v>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1F-4E66-8659-4125E1A3258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 Scored</c:v>
                </c:pt>
              </c:strCache>
            </c:strRef>
          </c:tx>
          <c:spPr>
            <a:ln w="38100" cap="flat">
              <a:solidFill>
                <a:srgbClr val="1E3A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3A8A"/>
              </a:solidFill>
              <a:ln w="9525" cap="flat">
                <a:solidFill>
                  <a:srgbClr val="1E3A8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2460</c:v>
                </c:pt>
                <c:pt idx="1">
                  <c:v>1992</c:v>
                </c:pt>
                <c:pt idx="2">
                  <c:v>2314</c:v>
                </c:pt>
                <c:pt idx="3">
                  <c:v>2859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0C6-404F-9741-8DE8E4B429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Wickets Taken</c:v>
                </c:pt>
              </c:strCache>
            </c:strRef>
          </c:tx>
          <c:spPr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</c:v>
                </c:pt>
                <c:pt idx="1">
                  <c:v>76</c:v>
                </c:pt>
                <c:pt idx="2">
                  <c:v>82</c:v>
                </c:pt>
                <c:pt idx="3">
                  <c:v>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0C6-404F-9741-8DE8E4B429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Boundary Reliance %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RCB</c:v>
                </c:pt>
                <c:pt idx="1">
                  <c:v>MI</c:v>
                </c:pt>
                <c:pt idx="2">
                  <c:v>CSK</c:v>
                </c:pt>
                <c:pt idx="3">
                  <c:v>KKR</c:v>
                </c:pt>
                <c:pt idx="4">
                  <c:v>SRH</c:v>
                </c:pt>
                <c:pt idx="5">
                  <c:v>KXIP</c:v>
                </c:pt>
                <c:pt idx="6">
                  <c:v>DD</c:v>
                </c:pt>
                <c:pt idx="7">
                  <c:v>RR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58.4</c:v>
                </c:pt>
                <c:pt idx="1">
                  <c:v>56.1</c:v>
                </c:pt>
                <c:pt idx="2">
                  <c:v>54.2</c:v>
                </c:pt>
                <c:pt idx="3">
                  <c:v>52.3</c:v>
                </c:pt>
                <c:pt idx="4">
                  <c:v>51.8</c:v>
                </c:pt>
                <c:pt idx="5">
                  <c:v>53.7</c:v>
                </c:pt>
                <c:pt idx="6">
                  <c:v>50.9</c:v>
                </c:pt>
                <c:pt idx="7">
                  <c:v>52.6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CF-4DFE-BF36-AF3EDADB29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Dot Ball %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RCB</c:v>
                </c:pt>
                <c:pt idx="1">
                  <c:v>MI</c:v>
                </c:pt>
                <c:pt idx="2">
                  <c:v>CSK</c:v>
                </c:pt>
                <c:pt idx="3">
                  <c:v>KKR</c:v>
                </c:pt>
                <c:pt idx="4">
                  <c:v>SRH</c:v>
                </c:pt>
                <c:pt idx="5">
                  <c:v>KXIP</c:v>
                </c:pt>
                <c:pt idx="6">
                  <c:v>DD</c:v>
                </c:pt>
                <c:pt idx="7">
                  <c:v>RR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32.1</c:v>
                </c:pt>
                <c:pt idx="1">
                  <c:v>34.200000000000003</c:v>
                </c:pt>
                <c:pt idx="2">
                  <c:v>35.799999999999997</c:v>
                </c:pt>
                <c:pt idx="3">
                  <c:v>37.1</c:v>
                </c:pt>
                <c:pt idx="4">
                  <c:v>38.6</c:v>
                </c:pt>
                <c:pt idx="5">
                  <c:v>35</c:v>
                </c:pt>
                <c:pt idx="6">
                  <c:v>36.4</c:v>
                </c:pt>
                <c:pt idx="7">
                  <c:v>35.9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09-489A-8D55-4B681D2586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Overall Toss Win Rate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Toss Win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6A-4326-B082-A5AA47155B49}"/>
              </c:ext>
            </c:extLst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6A-4326-B082-A5AA47155B4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6A-4326-B082-A5AA47155B4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6A-4326-B082-A5AA47155B4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Toss Winner Won</c:v>
                </c:pt>
                <c:pt idx="1">
                  <c:v>Toss Winner Lost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50.2</c:v>
                </c:pt>
                <c:pt idx="1">
                  <c:v>49.8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6A-4326-B082-A5AA47155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Win % by Toss Decision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B2-4CF6-BE03-94DCA0EB7B68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B2-4CF6-BE03-94DCA0EB7B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Field First</c:v>
                </c:pt>
                <c:pt idx="1">
                  <c:v>Bat First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54.97</c:v>
                </c:pt>
                <c:pt idx="1">
                  <c:v>42.86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B2-4CF6-BE03-94DCA0EB7B6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Batting Contribution (Runs)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SR Watson</c:v>
                </c:pt>
                <c:pt idx="1">
                  <c:v>DR Smith</c:v>
                </c:pt>
                <c:pt idx="2">
                  <c:v>DJ Bravo</c:v>
                </c:pt>
                <c:pt idx="3">
                  <c:v>RA Jadeja</c:v>
                </c:pt>
                <c:pt idx="4">
                  <c:v>Harbhajan Singh</c:v>
                </c:pt>
                <c:pt idx="5">
                  <c:v>KA Pollard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1315</c:v>
                </c:pt>
                <c:pt idx="1">
                  <c:v>1707</c:v>
                </c:pt>
                <c:pt idx="2">
                  <c:v>423</c:v>
                </c:pt>
                <c:pt idx="3">
                  <c:v>670</c:v>
                </c:pt>
                <c:pt idx="4">
                  <c:v>353</c:v>
                </c:pt>
                <c:pt idx="5">
                  <c:v>1320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5-4A55-8637-AC6BC19BD0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Bowling Contribution (Wkts × 20)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SR Watson</c:v>
                </c:pt>
                <c:pt idx="1">
                  <c:v>DR Smith</c:v>
                </c:pt>
                <c:pt idx="2">
                  <c:v>DJ Bravo</c:v>
                </c:pt>
                <c:pt idx="3">
                  <c:v>RA Jadeja</c:v>
                </c:pt>
                <c:pt idx="4">
                  <c:v>Harbhajan Singh</c:v>
                </c:pt>
                <c:pt idx="5">
                  <c:v>KA Pollard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920</c:v>
                </c:pt>
                <c:pt idx="1">
                  <c:v>300</c:v>
                </c:pt>
                <c:pt idx="2">
                  <c:v>1500</c:v>
                </c:pt>
                <c:pt idx="3">
                  <c:v>1020</c:v>
                </c:pt>
                <c:pt idx="4">
                  <c:v>1300</c:v>
                </c:pt>
                <c:pt idx="5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25-4A55-8637-AC6BC19BD0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DA Warner</c:v>
                </c:pt>
                <c:pt idx="1">
                  <c:v>V Kohli</c:v>
                </c:pt>
                <c:pt idx="2">
                  <c:v>AB de Villiers</c:v>
                </c:pt>
                <c:pt idx="3">
                  <c:v>MS Dhoni</c:v>
                </c:pt>
                <c:pt idx="4">
                  <c:v>MEK Hussey</c:v>
                </c:pt>
                <c:pt idx="5">
                  <c:v>RA Jadeja</c:v>
                </c:pt>
                <c:pt idx="6">
                  <c:v>SK Raina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54.3</c:v>
                </c:pt>
                <c:pt idx="1">
                  <c:v>55.6</c:v>
                </c:pt>
                <c:pt idx="2">
                  <c:v>57.8</c:v>
                </c:pt>
                <c:pt idx="3">
                  <c:v>58.9</c:v>
                </c:pt>
                <c:pt idx="4">
                  <c:v>60</c:v>
                </c:pt>
                <c:pt idx="5">
                  <c:v>60.61</c:v>
                </c:pt>
                <c:pt idx="6">
                  <c:v>62.12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F2-40BD-AD76-951B9F21408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5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9E-4088-A52C-5C906BA7AED5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9E-4088-A52C-5C906BA7AE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Home — M. Chinnaswamy</c:v>
                </c:pt>
                <c:pt idx="1">
                  <c:v>Away Venues (Avg)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</c:v>
                </c:pt>
                <c:pt idx="1">
                  <c:v>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9E-4088-A52C-5C906BA7AE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19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82880"/>
            <a:ext cx="2743200" cy="2743200"/>
          </a:xfrm>
          <a:prstGeom prst="ellipse">
            <a:avLst/>
          </a:prstGeom>
          <a:solidFill>
            <a:srgbClr val="243060">
              <a:alpha val="70000"/>
            </a:srgbClr>
          </a:solidFill>
          <a:ln w="12700">
            <a:solidFill>
              <a:srgbClr val="24306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280160"/>
            <a:ext cx="1828800" cy="1828800"/>
          </a:xfrm>
          <a:prstGeom prst="ellipse">
            <a:avLst/>
          </a:prstGeom>
          <a:solidFill>
            <a:srgbClr val="C9A84C">
              <a:alpha val="28000"/>
            </a:srgbClr>
          </a:solidFill>
          <a:ln w="1270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017520"/>
            <a:ext cx="1097280" cy="1097280"/>
          </a:xfrm>
          <a:prstGeom prst="ellipse">
            <a:avLst/>
          </a:prstGeom>
          <a:solidFill>
            <a:srgbClr val="2A3B6B">
              <a:alpha val="80000"/>
            </a:srgbClr>
          </a:solidFill>
          <a:ln w="12700">
            <a:solidFill>
              <a:srgbClr val="2A3B6B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DATA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Challengers Bangalore — Strategic Insights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118872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 ·  MySQL  ·  IPL Seasons 2013–2016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r>
              <a:rPr lang="en-US" sz="1200">
                <a:solidFill>
                  <a:srgbClr val="6B7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Jayesh Mirashe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02996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02996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298448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42032"/>
            <a:ext cx="175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inspection, aggregations, CTEs, window functions, KPI derivations across 15 structured problems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202996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05840"/>
            <a:ext cx="202996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115568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697480" y="18288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71800" y="2423160"/>
            <a:ext cx="1298448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542032"/>
            <a:ext cx="175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analysis, player recommendations, auction strategy, home ground advantage, high-scoring match factors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202996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05840"/>
            <a:ext cx="202996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115568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2423160"/>
            <a:ext cx="1298448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542032"/>
            <a:ext cx="175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· LAG() · DENSE_RANK() · TIMESTAMPDIFF · COALESCE · Conditional Aggregation · Correlated Subqueries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86600" y="1005840"/>
            <a:ext cx="202996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1005840"/>
            <a:ext cx="202996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115568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178040" y="18288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60" y="2423160"/>
            <a:ext cx="1298448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542032"/>
            <a:ext cx="175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IPL seasons (2013–2016)  ·  10 teams  ·  ball-by-ball granularity from the ball_by_ball fact table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 &amp; relationships powering all 26 SQL queries  |  Obj. Q1 — INFORMATION_SCHEMA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64008" cy="5120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704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ball_by_ball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1704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 · Over_Id · Ball_Id · Innings_No · Team_Batting · Team_Bowling · Striker · Bowler · Runs_Scored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41932"/>
            <a:ext cx="82296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41932"/>
            <a:ext cx="64008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419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7419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 · Season_Id · Venue_Id · Team_1 · Team_2 · Toss_Winner · Match_Winner · Man_of_the_Match · Outcome_type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82296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13432"/>
            <a:ext cx="64008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134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3134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 · Player_Name · DOB · Batting_Hand · Bowling_Skill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4932"/>
            <a:ext cx="82296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4932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849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wicket_taken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8849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 · Over_Id · Ball_Id · Innings_No · Player_Out · Kind_Out  ↔  out_type.Out_Name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82296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56432"/>
            <a:ext cx="64008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4564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extra_runs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4564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 · Over_Id · Ball_Id · Innings_No · Extra_Runs · Extra_Type  (wides, no-balls, byes, leg-byes)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27932"/>
            <a:ext cx="82296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27932"/>
            <a:ext cx="64008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279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/ venue / team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0279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Season_Id, Season_Year  ·  Venue_Id, Venue_Name  ·  Team_Id, Team_Name  (lookup / dimension tables)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35424"/>
            <a:ext cx="658368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354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07008" y="4535424"/>
            <a:ext cx="754380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535424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52828" y="4535424"/>
            <a:ext cx="1426464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2828" y="4535424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70732" y="4535424"/>
            <a:ext cx="1522476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70732" y="4535424"/>
            <a:ext cx="15224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TIMESTAMPDIFF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84648" y="4535424"/>
            <a:ext cx="1042416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4535424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18504" y="4535424"/>
            <a:ext cx="1042416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4535424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NULLIF()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846320"/>
            <a:ext cx="2002536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INFORMATION_SCHEMA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51176" y="4846320"/>
            <a:ext cx="2482596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51176" y="4846320"/>
            <a:ext cx="24825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5212" y="4846320"/>
            <a:ext cx="1810512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5212" y="484632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27164" y="4846320"/>
            <a:ext cx="1234440" cy="246888"/>
          </a:xfrm>
          <a:prstGeom prst="roundRect">
            <a:avLst>
              <a:gd name="adj" fmla="val 14815"/>
            </a:avLst>
          </a:prstGeom>
          <a:solidFill>
            <a:srgbClr val="1E3A8A">
              <a:alpha val="13000"/>
            </a:srgbClr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7164" y="4846320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Season-wise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/ Loss record across 4 IPL seasons — Subj. Q9  ·  Query: Matches + Season tables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15568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115568"/>
            <a:ext cx="283464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1115568"/>
            <a:ext cx="6400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63640" y="1636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Win Rate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3640" y="18653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8W · 6L  —  Strongest start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80760" y="2304288"/>
            <a:ext cx="283464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2304288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3591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263640" y="2825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Win Rate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 · 9L  —  Worst season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3493008"/>
            <a:ext cx="283464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493008"/>
            <a:ext cx="64008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54787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263640" y="401421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Win Rate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63640" y="42428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9W · 7L  —  Best record, no trophy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Batsmen by Strike 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 = (Runs ÷ Balls) × 100  ·  Min. 20 balls faced  ·  Last 4 seasons — Obj. Q5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15568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Style Impact on Wickets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 taken + bowling strike rate (balls per wicket) by style — Obj. Q10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15568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035040" y="1115568"/>
          <a:ext cx="28803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Wickets by Bowling Style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035040" y="473659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 (Balls / Wicket)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Performance — RCB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window function compares each season against the previous — Obj. Q11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8229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99432"/>
            <a:ext cx="8229600" cy="384048"/>
          </a:xfrm>
          <a:prstGeom prst="rect">
            <a:avLst/>
          </a:prstGeom>
          <a:solidFill>
            <a:srgbClr val="1E3A8A">
              <a:alpha val="12000"/>
            </a:srgbClr>
          </a:solidFill>
          <a:ln w="10160">
            <a:solidFill>
              <a:srgbClr val="1E3A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5994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RCB's batting &amp; bowling never peaked in the same season — the consistent root cause of their trophy drought.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Strategy KPIs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Reliance % (batting aggression)  ·  Dot Ball % (bowling pressure) — Obj. Q12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9728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54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Reliance %  (higher = more aggressive batting)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754880" y="4754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Ball %  (higher = more bowling pressure)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winning the toss win matches? — 249 matches · Subj. Q1  ·  3 queries: overall, by decision, by venue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3657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97680" y="1097280"/>
          <a:ext cx="4617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99432"/>
            <a:ext cx="8229600" cy="384048"/>
          </a:xfrm>
          <a:prstGeom prst="rect">
            <a:avLst/>
          </a:prstGeom>
          <a:solidFill>
            <a:srgbClr val="1E3A8A">
              <a:alpha val="12000"/>
            </a:srgbClr>
          </a:solidFill>
          <a:ln w="10160">
            <a:solidFill>
              <a:srgbClr val="1E3A8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45994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first = 54.97% win rate vs Bat first = 42.86%. Always choose to field after winning the toss — a free advantage in every single match.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 Score = Total Runs + (Wickets × 20)  ·  Min. 15 matches each — Subj. Q4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15568"/>
          <a:ext cx="8686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Team Influence — Win 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win % when the player is in the XI  ·  Min. 30 matches played — Subj. Q5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15568"/>
          <a:ext cx="7132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115568"/>
            <a:ext cx="1005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115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09560" y="1325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17556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09560" y="21854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09560" y="2615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30449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★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39044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1E3A8A">
              <a:alpha val="12000"/>
            </a:srgbClr>
          </a:solidFill>
          <a:ln w="10160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Raina's team wins 62% of matches he plays. This is team influence — not just personal stats. Match-winners elevate everyone around them.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Home Ground Advantage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Chinnaswamy Stadium (Home) vs Away venues — Subj. Q8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15568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115568"/>
            <a:ext cx="3200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15000" y="1115568"/>
            <a:ext cx="64008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1887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Field First at Chinnaswamy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4996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dew makes the ball harder to grip. The chasing team benefits massively. Never bat first at home.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0" y="2194560"/>
            <a:ext cx="3200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2194560"/>
            <a:ext cx="64008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2677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Pack the Lineup with Big Hitters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2578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IPL's smallest boundaries. Players with SR 140+ are worth double here. Build around AB &amp; Pollard.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3273552"/>
            <a:ext cx="3200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3273552"/>
            <a:ext cx="64008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346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Win Home Games Early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first few home fixtures builds momentum into tougher away fixtures. Momentum is real in T20.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Players for RCB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picks based on strike rate, role fit &amp; MOM count — Subj. Q2 &amp; Q3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5039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64008" cy="6766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1556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de Villiers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4 Finisher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1155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 164.27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111556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85039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65376"/>
            <a:ext cx="64008" cy="6766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65376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Warner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231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Opener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86537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 140.94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86537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85039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15184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15184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2670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Gayle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9809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Destroyer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1518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 137.43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261518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85039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64992"/>
            <a:ext cx="64008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64992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34198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Pollard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3730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 Finisher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36499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 142.86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336499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Wkts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85039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114800"/>
            <a:ext cx="64008" cy="6766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14800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97280" y="41696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Bravo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44805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All-rounder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11480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 7.77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411480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Wkts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Mega Auction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data-driven directives for the 2017 mega auction — Subj. Q6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353312"/>
            <a:ext cx="36576" cy="45720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13167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Virat Kohli — non-negotiable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6002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2,472 runs. Most consistent player across all 4 seasons. Every other decision is built around him.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2112264"/>
            <a:ext cx="36576" cy="45720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756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bowling first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23591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40% of auction budget on quality bowlers. RCB has never lacked for runs — only for economy.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2871216"/>
            <a:ext cx="36576" cy="45720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834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finishers, not more anchors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1181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SR 140+ death-over specialists. AB de Villiers &amp; KA Pollard archetypes fill the exact gap.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5387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97280" y="3630168"/>
            <a:ext cx="36576" cy="45720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593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match-winners over stat-fillers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8770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Raina &amp; Jadeja teams win 60%+ with them. Influence over volume — a player who shifts the game is worth more.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97280" y="4389120"/>
            <a:ext cx="36576" cy="45720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43525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field first after winning the toss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46360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54.97% win rate fielding vs 42.86% batting. A free 12% edge every single match — take it, every time.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243060">
              <a:alpha val="70000"/>
            </a:srgbClr>
          </a:solidFill>
          <a:ln w="12700">
            <a:solidFill>
              <a:srgbClr val="24306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011680"/>
            <a:ext cx="1371600" cy="1371600"/>
          </a:xfrm>
          <a:prstGeom prst="ellipse">
            <a:avLst/>
          </a:prstGeom>
          <a:solidFill>
            <a:srgbClr val="C9A84C">
              <a:alpha val="28000"/>
            </a:srgbClr>
          </a:solidFill>
          <a:ln w="1270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128016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9728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IPL matches across 4 seasons analysed with 26 SQL queries — CTEs, LAG(), DENSE_RANK(), TIMESTAMPDIFF, and conditional aggregation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47088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RCB's batting was never the problem — bowling economy and all-round depth were the consistent gaps across every season in the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9689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 matters more than the toss itself — fielding first delivers a measurable 12-point win-rate advantage (55% vs 43%)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9584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34670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All-rounders like DJ Bravo and KA Pollard fill the dual-role gap RCB most needs: bowling control + lower-order hitting power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7939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09651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auction strategy is clear: retain Kohli, invest 40%+ of budget in bowling, and target match-winners ranked by team win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</Words>
  <Application>Microsoft Office PowerPoint</Application>
  <PresentationFormat>On-screen Show (16:9)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Data Analysis — RCB Strategic Insights</dc:title>
  <dc:subject>PptxGenJS Presentation</dc:subject>
  <dc:creator>Vaibhav</dc:creator>
  <cp:lastModifiedBy>Jayesh Mirashe</cp:lastModifiedBy>
  <cp:revision>2</cp:revision>
  <dcterms:created xsi:type="dcterms:W3CDTF">2026-06-08T01:58:15Z</dcterms:created>
  <dcterms:modified xsi:type="dcterms:W3CDTF">2026-06-08T02:24:26Z</dcterms:modified>
</cp:coreProperties>
</file>